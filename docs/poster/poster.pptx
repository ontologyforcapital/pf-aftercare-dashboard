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Malgun Gothic"/>
              </a:rPr>
              <a:t>공개 데이터 기반 · AI 협업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부실 PF 사업장, 가격은 어떻게 움직이는가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3C2B7"/>
                </a:solidFill>
                <a:latin typeface="Malgun Gothic"/>
              </a:rPr>
              <a:t>공개 경공매 사업장 798곳의 감정가·최저입찰가 경로를 시계열로 추적하고, 점검이 필요한 사업장을 스크리닝하는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3987E5"/>
                </a:solidFill>
                <a:latin typeface="Malgun Gothic"/>
              </a:rPr>
              <a:t>798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A3"/>
                </a:solidFill>
                <a:latin typeface="Malgun Gothic"/>
              </a:rPr>
              <a:t>추적 사업장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3987E5"/>
                </a:solidFill>
                <a:latin typeface="Malgun Gothic"/>
              </a:rPr>
              <a:t>17개월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A3"/>
                </a:solidFill>
                <a:latin typeface="Malgun Gothic"/>
              </a:rPr>
              <a:t>가격 경로 관측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B6834"/>
                </a:solidFill>
                <a:latin typeface="Malgun Gothic"/>
              </a:rPr>
              <a:t>129 →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A3"/>
                </a:solidFill>
                <a:latin typeface="Malgun Gothic"/>
              </a:rPr>
              <a:t>검증으로 확정한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B6834"/>
                </a:solidFill>
                <a:latin typeface="Malgun Gothic"/>
              </a:rPr>
              <a:t>7,977건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A3"/>
                </a:solidFill>
                <a:latin typeface="Malgun Gothic"/>
              </a:rPr>
              <a:t>통계 검정(FDR)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2514600" cy="2148840"/>
          </a:xfrm>
          <a:prstGeom prst="roundRect">
            <a:avLst/>
          </a:prstGeom>
          <a:solidFill>
            <a:srgbClr val="1A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" y="3246120"/>
            <a:ext cx="82296" cy="45720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가격은 버티고, 최저입찰가만 깎인다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069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감정평가액은 공개기간 중 83.6% 무변동.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공매는 감정가의 120%에서 출발해 회차마다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-9.5%씩 인하 — 8회차엔 62%.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063240"/>
            <a:ext cx="2514600" cy="2148840"/>
          </a:xfrm>
          <a:prstGeom prst="roundRect">
            <a:avLst/>
          </a:prstGeom>
          <a:solidFill>
            <a:srgbClr val="1A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02152" y="3246120"/>
            <a:ext cx="82296" cy="45720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2461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산업시설은 가격이 아니라 수요의 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069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물류·공장은 시장보다 싸게 내놓아도 체류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최장(중앙 11개월). 감정 괴리 최소·소재지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수요 수축까지 3중 증거.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063240"/>
            <a:ext cx="2514600" cy="2148840"/>
          </a:xfrm>
          <a:prstGeom prst="roundRect">
            <a:avLst/>
          </a:prstGeom>
          <a:solidFill>
            <a:srgbClr val="1A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3246120"/>
            <a:ext cx="82296" cy="457200"/>
          </a:xfrm>
          <a:prstGeom prst="round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461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신용 스트레스가 커지면 더 깊이 깎는다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40690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회사채 스프레드 확대 국면에 저감 심화 —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차분 상관 -0.68 (p=0.004). 지가 상승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3C2B7"/>
                </a:solidFill>
                <a:latin typeface="Malgun Gothic"/>
              </a:rPr>
              <a:t>지역일수록 공매는 빨리 끝난다.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063240"/>
            <a:ext cx="2743200" cy="2148840"/>
          </a:xfrm>
          <a:prstGeom prst="roundRect">
            <a:avLst/>
          </a:prstGeom>
          <a:solidFill>
            <a:srgbClr val="1A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q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246120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61320" y="32918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라이브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대시보드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977639"/>
            <a:ext cx="1051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3C2B7"/>
                </a:solidFill>
                <a:latin typeface="Malgun Gothic"/>
              </a:rPr>
              <a:t>✓ 필터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C3C2B7"/>
                </a:solidFill>
                <a:latin typeface="Malgun Gothic"/>
              </a:rPr>
              <a:t>✓ 시계열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C3C2B7"/>
                </a:solidFill>
                <a:latin typeface="Malgun Gothic"/>
              </a:rPr>
              <a:t>✓ 스크리닝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800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3A3"/>
                </a:solidFill>
                <a:latin typeface="Malgun Gothic"/>
              </a:rPr>
              <a:t>QR 스캔 — 로그인 불필요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C2B7"/>
                </a:solidFill>
                <a:latin typeface="Malgun Gothic"/>
              </a:rPr>
              <a:t>데이터  은행연합회 PF 정보공개 · 온비드 · 국토부 실거래가/건축HUB · 부동산원 R-ONE · ECOS/KOSIS · 청약홈 · 키스콘 · HUG 등 공개 자료 10여 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C2B7"/>
                </a:solidFill>
                <a:latin typeface="Malgun Gothic"/>
              </a:rPr>
              <a:t>제작  AI 코딩 에이전트 협업 — 생성 → 상호 적대 검수(7차례) → 사람 판정 루프 · 전 과정 익명화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987E5"/>
                </a:solidFill>
                <a:latin typeface="Malgun Gothic"/>
              </a:rPr>
              <a:t>https://pf-aftercare-dashboard-fhdynfqdime54cstappppxqy.streamlit.app/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309360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3A3"/>
                </a:solidFill>
                <a:latin typeface="Malgun Gothic"/>
              </a:rPr>
              <a:t>PF After-Care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